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Lato"/>
      <p:regular r:id="rId22"/>
      <p:bold r:id="rId23"/>
      <p:italic r:id="rId24"/>
      <p:boldItalic r:id="rId25"/>
    </p:embeddedFont>
    <p:embeddedFont>
      <p:font typeface="Lato Light"/>
      <p:regular r:id="rId26"/>
      <p:bold r:id="rId27"/>
      <p:italic r:id="rId28"/>
      <p:boldItalic r:id="rId29"/>
    </p:embeddedFont>
    <p:embeddedFont>
      <p:font typeface="Lato Black"/>
      <p:bold r:id="rId30"/>
      <p:boldItalic r:id="rId31"/>
    </p:embeddedFont>
    <p:embeddedFont>
      <p:font typeface="Gill San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yiMYxk1eZ3Z7m6r1A3QT9BjcW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regular.fntdata"/><Relationship Id="rId21" Type="http://schemas.openxmlformats.org/officeDocument/2006/relationships/slide" Target="slides/slide16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LatoLight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LatoLight-italic.fntdata"/><Relationship Id="rId27" Type="http://schemas.openxmlformats.org/officeDocument/2006/relationships/font" Target="fonts/Lato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Italic.fntdata"/><Relationship Id="rId30" Type="http://schemas.openxmlformats.org/officeDocument/2006/relationships/font" Target="fonts/LatoBlack-bold.fntdata"/><Relationship Id="rId11" Type="http://schemas.openxmlformats.org/officeDocument/2006/relationships/slide" Target="slides/slide6.xml"/><Relationship Id="rId33" Type="http://schemas.openxmlformats.org/officeDocument/2006/relationships/font" Target="fonts/GillSans-bold.fntdata"/><Relationship Id="rId10" Type="http://schemas.openxmlformats.org/officeDocument/2006/relationships/slide" Target="slides/slide5.xml"/><Relationship Id="rId32" Type="http://schemas.openxmlformats.org/officeDocument/2006/relationships/font" Target="fonts/GillSans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 Light"/>
              <a:buNone/>
            </a:pPr>
            <a:r>
              <a:t/>
            </a:r>
            <a:endParaRPr/>
          </a:p>
        </p:txBody>
      </p:sp>
      <p:sp>
        <p:nvSpPr>
          <p:cNvPr id="143" name="Google Shape;1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6d05868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76d05868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76d058683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76d058683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76d058683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76d058683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22033cd6b980e7e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22033cd6b980e7e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9"/>
          <p:cNvSpPr txBox="1"/>
          <p:nvPr>
            <p:ph idx="1" type="body"/>
          </p:nvPr>
        </p:nvSpPr>
        <p:spPr>
          <a:xfrm>
            <a:off x="2437929" y="5527544"/>
            <a:ext cx="51678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ACFD9"/>
              </a:buClr>
              <a:buSzPts val="1400"/>
              <a:buNone/>
              <a:defRPr b="1" sz="1400">
                <a:solidFill>
                  <a:srgbClr val="CACFD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2" type="body"/>
          </p:nvPr>
        </p:nvSpPr>
        <p:spPr>
          <a:xfrm>
            <a:off x="2437929" y="5158993"/>
            <a:ext cx="5167854" cy="35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ACFD9"/>
              </a:buClr>
              <a:buSzPts val="2000"/>
              <a:buNone/>
              <a:defRPr b="1" sz="2000">
                <a:solidFill>
                  <a:srgbClr val="CACFD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3" type="subTitle"/>
          </p:nvPr>
        </p:nvSpPr>
        <p:spPr>
          <a:xfrm>
            <a:off x="357154" y="1698141"/>
            <a:ext cx="7303997" cy="285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1D8"/>
              </a:buClr>
              <a:buSzPts val="1200"/>
              <a:buNone/>
              <a:defRPr sz="1200">
                <a:solidFill>
                  <a:srgbClr val="F8F1D8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9"/>
          <p:cNvSpPr txBox="1"/>
          <p:nvPr>
            <p:ph type="ctrTitle"/>
          </p:nvPr>
        </p:nvSpPr>
        <p:spPr>
          <a:xfrm>
            <a:off x="357154" y="2502917"/>
            <a:ext cx="7303997" cy="1924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ato Black"/>
              <a:buNone/>
              <a:defRPr b="1" sz="60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/>
          <p:nvPr/>
        </p:nvSpPr>
        <p:spPr>
          <a:xfrm>
            <a:off x="357155" y="4887468"/>
            <a:ext cx="849871" cy="8535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9"/>
          <p:cNvSpPr/>
          <p:nvPr/>
        </p:nvSpPr>
        <p:spPr>
          <a:xfrm>
            <a:off x="2542104" y="6039598"/>
            <a:ext cx="342900" cy="223837"/>
          </a:xfrm>
          <a:custGeom>
            <a:rect b="b" l="l" r="r" t="t"/>
            <a:pathLst>
              <a:path extrusionOk="0" h="21600" w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9025" lIns="19025" spcFirstLastPara="1" rIns="19025" wrap="square" tIns="19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CACFD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29"/>
          <p:cNvSpPr txBox="1"/>
          <p:nvPr>
            <p:ph idx="4" type="body"/>
          </p:nvPr>
        </p:nvSpPr>
        <p:spPr>
          <a:xfrm>
            <a:off x="2885004" y="6019599"/>
            <a:ext cx="206140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CFD9"/>
              </a:buClr>
              <a:buSzPts val="1400"/>
              <a:buNone/>
              <a:defRPr sz="1400">
                <a:solidFill>
                  <a:srgbClr val="CACFD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9"/>
          <p:cNvSpPr/>
          <p:nvPr>
            <p:ph idx="5" type="pic"/>
          </p:nvPr>
        </p:nvSpPr>
        <p:spPr>
          <a:xfrm>
            <a:off x="804740" y="4937916"/>
            <a:ext cx="1514474" cy="1540800"/>
          </a:xfrm>
          <a:prstGeom prst="ellipse">
            <a:avLst/>
          </a:prstGeom>
          <a:solidFill>
            <a:srgbClr val="D6DCE5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ная полоса справа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/>
          <p:nvPr/>
        </p:nvSpPr>
        <p:spPr>
          <a:xfrm>
            <a:off x="0" y="0"/>
            <a:ext cx="9403080" cy="68661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" name="Google Shape;29;p33"/>
          <p:cNvSpPr txBox="1"/>
          <p:nvPr>
            <p:ph type="title"/>
          </p:nvPr>
        </p:nvSpPr>
        <p:spPr>
          <a:xfrm>
            <a:off x="425734" y="331259"/>
            <a:ext cx="8515066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" type="body"/>
          </p:nvPr>
        </p:nvSpPr>
        <p:spPr>
          <a:xfrm>
            <a:off x="425735" y="1137003"/>
            <a:ext cx="8515066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/>
          <p:nvPr>
            <p:ph idx="1" type="body"/>
          </p:nvPr>
        </p:nvSpPr>
        <p:spPr>
          <a:xfrm>
            <a:off x="2437929" y="5527544"/>
            <a:ext cx="51678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ACFD9"/>
              </a:buClr>
              <a:buSzPts val="1400"/>
              <a:buNone/>
              <a:defRPr b="1" sz="1400">
                <a:solidFill>
                  <a:srgbClr val="CACFD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4"/>
          <p:cNvSpPr txBox="1"/>
          <p:nvPr>
            <p:ph idx="2" type="body"/>
          </p:nvPr>
        </p:nvSpPr>
        <p:spPr>
          <a:xfrm>
            <a:off x="2437929" y="5158993"/>
            <a:ext cx="5167854" cy="35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ACFD9"/>
              </a:buClr>
              <a:buSzPts val="2000"/>
              <a:buNone/>
              <a:defRPr b="1" sz="2000">
                <a:solidFill>
                  <a:srgbClr val="CACFD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3" type="subTitle"/>
          </p:nvPr>
        </p:nvSpPr>
        <p:spPr>
          <a:xfrm>
            <a:off x="357154" y="1698141"/>
            <a:ext cx="7303997" cy="285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1D8"/>
              </a:buClr>
              <a:buSzPts val="1200"/>
              <a:buNone/>
              <a:defRPr sz="1200">
                <a:solidFill>
                  <a:srgbClr val="F8F1D8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44"/>
          <p:cNvSpPr txBox="1"/>
          <p:nvPr>
            <p:ph type="ctrTitle"/>
          </p:nvPr>
        </p:nvSpPr>
        <p:spPr>
          <a:xfrm>
            <a:off x="357154" y="2502917"/>
            <a:ext cx="7303997" cy="1924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ato Black"/>
              <a:buNone/>
              <a:defRPr b="1" sz="60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4"/>
          <p:cNvSpPr/>
          <p:nvPr/>
        </p:nvSpPr>
        <p:spPr>
          <a:xfrm>
            <a:off x="357155" y="4887468"/>
            <a:ext cx="849871" cy="8535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4"/>
          <p:cNvSpPr/>
          <p:nvPr/>
        </p:nvSpPr>
        <p:spPr>
          <a:xfrm>
            <a:off x="2542104" y="6039598"/>
            <a:ext cx="342900" cy="223837"/>
          </a:xfrm>
          <a:custGeom>
            <a:rect b="b" l="l" r="r" t="t"/>
            <a:pathLst>
              <a:path extrusionOk="0" h="21600" w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9025" lIns="19025" spcFirstLastPara="1" rIns="19025" wrap="square" tIns="19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CACFD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" name="Google Shape;39;p44"/>
          <p:cNvSpPr txBox="1"/>
          <p:nvPr>
            <p:ph idx="4" type="body"/>
          </p:nvPr>
        </p:nvSpPr>
        <p:spPr>
          <a:xfrm>
            <a:off x="2885004" y="6019599"/>
            <a:ext cx="206140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CFD9"/>
              </a:buClr>
              <a:buSzPts val="1400"/>
              <a:buNone/>
              <a:defRPr sz="1400">
                <a:solidFill>
                  <a:srgbClr val="CACFD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4"/>
          <p:cNvSpPr/>
          <p:nvPr>
            <p:ph idx="5" type="pic"/>
          </p:nvPr>
        </p:nvSpPr>
        <p:spPr>
          <a:xfrm>
            <a:off x="804740" y="4937916"/>
            <a:ext cx="1514474" cy="1540800"/>
          </a:xfrm>
          <a:prstGeom prst="ellipse">
            <a:avLst/>
          </a:prstGeom>
          <a:solidFill>
            <a:srgbClr val="D6DCE5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 - розовый">
  <p:cSld name="Заголовок раздела - розовый">
    <p:bg>
      <p:bgPr>
        <a:solidFill>
          <a:srgbClr val="E3006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5"/>
          <p:cNvSpPr txBox="1"/>
          <p:nvPr>
            <p:ph type="title"/>
          </p:nvPr>
        </p:nvSpPr>
        <p:spPr>
          <a:xfrm>
            <a:off x="803267" y="2446046"/>
            <a:ext cx="525145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 Black"/>
              <a:buNone/>
              <a:defRPr b="1" sz="4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5"/>
          <p:cNvSpPr txBox="1"/>
          <p:nvPr>
            <p:ph idx="1" type="body"/>
          </p:nvPr>
        </p:nvSpPr>
        <p:spPr>
          <a:xfrm>
            <a:off x="803265" y="4106069"/>
            <a:ext cx="52927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5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5" name="Google Shape;45;p45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6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6"/>
          <p:cNvSpPr txBox="1"/>
          <p:nvPr>
            <p:ph idx="1" type="body"/>
          </p:nvPr>
        </p:nvSpPr>
        <p:spPr>
          <a:xfrm>
            <a:off x="425734" y="1137003"/>
            <a:ext cx="11355843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6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">
  <p:cSld name="Заголовок и текст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2"/>
          <p:cNvSpPr txBox="1"/>
          <p:nvPr>
            <p:ph idx="1" type="body"/>
          </p:nvPr>
        </p:nvSpPr>
        <p:spPr>
          <a:xfrm>
            <a:off x="425450" y="1136324"/>
            <a:ext cx="11341100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Заголовок раздела">
  <p:cSld name="2 Заголовок раздела">
    <p:bg>
      <p:bgPr>
        <a:solidFill>
          <a:srgbClr val="D6DCE5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/>
          <p:nvPr>
            <p:ph idx="1" type="body"/>
          </p:nvPr>
        </p:nvSpPr>
        <p:spPr>
          <a:xfrm>
            <a:off x="803265" y="4106069"/>
            <a:ext cx="52927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8" name="Google Shape;68;p34"/>
          <p:cNvSpPr/>
          <p:nvPr/>
        </p:nvSpPr>
        <p:spPr>
          <a:xfrm>
            <a:off x="803269" y="2446046"/>
            <a:ext cx="288000" cy="288000"/>
          </a:xfrm>
          <a:prstGeom prst="rect">
            <a:avLst/>
          </a:prstGeom>
          <a:solidFill>
            <a:srgbClr val="E30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9" name="Google Shape;69;p34"/>
          <p:cNvSpPr txBox="1"/>
          <p:nvPr>
            <p:ph type="title"/>
          </p:nvPr>
        </p:nvSpPr>
        <p:spPr>
          <a:xfrm>
            <a:off x="803267" y="2446046"/>
            <a:ext cx="525145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  <a:defRPr b="1" sz="4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езюме (фиксированный слайд)">
  <p:cSld name="Резюме (фиксированный слайд)">
    <p:bg>
      <p:bgPr>
        <a:solidFill>
          <a:srgbClr val="D6DCE5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2" name="Google Shape;72;p35"/>
          <p:cNvSpPr/>
          <p:nvPr/>
        </p:nvSpPr>
        <p:spPr>
          <a:xfrm>
            <a:off x="803269" y="2446046"/>
            <a:ext cx="288000" cy="288000"/>
          </a:xfrm>
          <a:prstGeom prst="rect">
            <a:avLst/>
          </a:prstGeom>
          <a:solidFill>
            <a:srgbClr val="E30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3" name="Google Shape;73;p35"/>
          <p:cNvSpPr txBox="1"/>
          <p:nvPr/>
        </p:nvSpPr>
        <p:spPr>
          <a:xfrm>
            <a:off x="803269" y="4033350"/>
            <a:ext cx="51690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Основные выводы</a:t>
            </a:r>
            <a:endParaRPr b="0" i="0" sz="24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4" name="Google Shape;74;p35"/>
          <p:cNvSpPr txBox="1"/>
          <p:nvPr/>
        </p:nvSpPr>
        <p:spPr>
          <a:xfrm>
            <a:off x="803269" y="1237802"/>
            <a:ext cx="46388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0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ЗАКЛЮЧЕНИЕ.</a:t>
            </a:r>
            <a:endParaRPr b="0" i="0" sz="10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5" name="Google Shape;75;p35"/>
          <p:cNvSpPr txBox="1"/>
          <p:nvPr/>
        </p:nvSpPr>
        <p:spPr>
          <a:xfrm>
            <a:off x="803269" y="2446046"/>
            <a:ext cx="322009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РЕЗЮМЕ ПО ТЕМЕ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Выводы">
  <p:cSld name="4 Выводы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6"/>
          <p:cNvSpPr txBox="1"/>
          <p:nvPr>
            <p:ph idx="1" type="body"/>
          </p:nvPr>
        </p:nvSpPr>
        <p:spPr>
          <a:xfrm>
            <a:off x="1413017" y="1289313"/>
            <a:ext cx="9578834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Free Video Folder 3D Icon - Free Download Files &amp; Folders 3D Icons |  IconScout" id="79" name="Google Shape;7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1289312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6"/>
          <p:cNvSpPr txBox="1"/>
          <p:nvPr>
            <p:ph idx="2" type="body"/>
          </p:nvPr>
        </p:nvSpPr>
        <p:spPr>
          <a:xfrm>
            <a:off x="1413016" y="2603988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81" name="Google Shape;8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2603987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6"/>
          <p:cNvSpPr txBox="1"/>
          <p:nvPr>
            <p:ph idx="3" type="body"/>
          </p:nvPr>
        </p:nvSpPr>
        <p:spPr>
          <a:xfrm>
            <a:off x="1413016" y="3918663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83" name="Google Shape;8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3918662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6"/>
          <p:cNvSpPr txBox="1"/>
          <p:nvPr>
            <p:ph idx="4" type="body"/>
          </p:nvPr>
        </p:nvSpPr>
        <p:spPr>
          <a:xfrm>
            <a:off x="1413016" y="5233338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85" name="Google Shape;8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5233337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6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справа заливка">
  <p:cSld name="Заголовок и объект справа заливка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7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7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0" name="Google Shape;90;p37"/>
          <p:cNvSpPr/>
          <p:nvPr>
            <p:ph idx="1" type="body"/>
          </p:nvPr>
        </p:nvSpPr>
        <p:spPr>
          <a:xfrm>
            <a:off x="6619874" y="1137003"/>
            <a:ext cx="4981575" cy="4920895"/>
          </a:xfrm>
          <a:prstGeom prst="roundRect">
            <a:avLst>
              <a:gd fmla="val 575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7"/>
          <p:cNvSpPr txBox="1"/>
          <p:nvPr>
            <p:ph idx="2" type="body"/>
          </p:nvPr>
        </p:nvSpPr>
        <p:spPr>
          <a:xfrm>
            <a:off x="425451" y="1136324"/>
            <a:ext cx="5670550" cy="4920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справа пунктир">
  <p:cSld name="Заголовок и объект справа пунктир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8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5" name="Google Shape;95;p38"/>
          <p:cNvSpPr/>
          <p:nvPr>
            <p:ph idx="1" type="body"/>
          </p:nvPr>
        </p:nvSpPr>
        <p:spPr>
          <a:xfrm>
            <a:off x="6619874" y="1137003"/>
            <a:ext cx="4981575" cy="4920895"/>
          </a:xfrm>
          <a:prstGeom prst="roundRect">
            <a:avLst>
              <a:gd fmla="val 5757" name="adj"/>
            </a:avLst>
          </a:prstGeom>
          <a:noFill/>
          <a:ln cap="flat" cmpd="sng" w="28575">
            <a:solidFill>
              <a:srgbClr val="D8D8D8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8"/>
          <p:cNvSpPr txBox="1"/>
          <p:nvPr>
            <p:ph idx="2" type="body"/>
          </p:nvPr>
        </p:nvSpPr>
        <p:spPr>
          <a:xfrm>
            <a:off x="425451" y="1136324"/>
            <a:ext cx="5670550" cy="4920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9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9"/>
          <p:cNvSpPr/>
          <p:nvPr>
            <p:ph idx="1" type="body"/>
          </p:nvPr>
        </p:nvSpPr>
        <p:spPr>
          <a:xfrm>
            <a:off x="425734" y="1137003"/>
            <a:ext cx="11355843" cy="5035876"/>
          </a:xfrm>
          <a:prstGeom prst="roundRect">
            <a:avLst>
              <a:gd fmla="val 4715" name="adj"/>
            </a:avLst>
          </a:prstGeom>
          <a:solidFill>
            <a:srgbClr val="E6E9E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9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Заголовок раздела">
  <p:cSld name="1 Заголовок раздела">
    <p:bg>
      <p:bgPr>
        <a:solidFill>
          <a:srgbClr val="D6DCE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"/>
          <p:cNvSpPr txBox="1"/>
          <p:nvPr>
            <p:ph idx="1" type="body"/>
          </p:nvPr>
        </p:nvSpPr>
        <p:spPr>
          <a:xfrm>
            <a:off x="803265" y="3553619"/>
            <a:ext cx="52927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40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5" name="Google Shape;105;p40"/>
          <p:cNvSpPr/>
          <p:nvPr/>
        </p:nvSpPr>
        <p:spPr>
          <a:xfrm>
            <a:off x="803269" y="2446046"/>
            <a:ext cx="288000" cy="288000"/>
          </a:xfrm>
          <a:prstGeom prst="rect">
            <a:avLst/>
          </a:prstGeom>
          <a:solidFill>
            <a:srgbClr val="E30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6" name="Google Shape;106;p40"/>
          <p:cNvSpPr txBox="1"/>
          <p:nvPr>
            <p:ph type="title"/>
          </p:nvPr>
        </p:nvSpPr>
        <p:spPr>
          <a:xfrm>
            <a:off x="803267" y="2446046"/>
            <a:ext cx="5251450" cy="982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  <a:defRPr b="1" sz="4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Заголовок раздела">
  <p:cSld name="3 Заголовок раздела">
    <p:bg>
      <p:bgPr>
        <a:solidFill>
          <a:srgbClr val="D6DCE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"/>
          <p:cNvSpPr txBox="1"/>
          <p:nvPr>
            <p:ph idx="1" type="body"/>
          </p:nvPr>
        </p:nvSpPr>
        <p:spPr>
          <a:xfrm>
            <a:off x="803265" y="4877594"/>
            <a:ext cx="52927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1" name="Google Shape;111;p41"/>
          <p:cNvSpPr/>
          <p:nvPr/>
        </p:nvSpPr>
        <p:spPr>
          <a:xfrm>
            <a:off x="803269" y="2446046"/>
            <a:ext cx="288000" cy="288000"/>
          </a:xfrm>
          <a:prstGeom prst="rect">
            <a:avLst/>
          </a:prstGeom>
          <a:solidFill>
            <a:srgbClr val="E30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2" name="Google Shape;112;p41"/>
          <p:cNvSpPr txBox="1"/>
          <p:nvPr>
            <p:ph type="title"/>
          </p:nvPr>
        </p:nvSpPr>
        <p:spPr>
          <a:xfrm>
            <a:off x="803267" y="2446045"/>
            <a:ext cx="5251450" cy="2325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  <a:defRPr b="1" sz="4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Выводы">
  <p:cSld name="2 Выводы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2"/>
          <p:cNvSpPr txBox="1"/>
          <p:nvPr>
            <p:ph idx="1" type="body"/>
          </p:nvPr>
        </p:nvSpPr>
        <p:spPr>
          <a:xfrm>
            <a:off x="1413017" y="2022738"/>
            <a:ext cx="9578834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42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Free Video Folder 3D Icon - Free Download Files &amp; Folders 3D Icons |  IconScout" id="116" name="Google Shape;11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2022737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2"/>
          <p:cNvSpPr txBox="1"/>
          <p:nvPr>
            <p:ph idx="2" type="body"/>
          </p:nvPr>
        </p:nvSpPr>
        <p:spPr>
          <a:xfrm>
            <a:off x="1413016" y="4263289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118" name="Google Shape;11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4263288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2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Выводы">
  <p:cSld name="3 Выводы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3"/>
          <p:cNvSpPr txBox="1"/>
          <p:nvPr>
            <p:ph idx="1" type="body"/>
          </p:nvPr>
        </p:nvSpPr>
        <p:spPr>
          <a:xfrm>
            <a:off x="1413017" y="1546488"/>
            <a:ext cx="9578834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43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Free Video Folder 3D Icon - Free Download Files &amp; Folders 3D Icons |  IconScout" id="123" name="Google Shape;12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1546487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3"/>
          <p:cNvSpPr txBox="1"/>
          <p:nvPr>
            <p:ph idx="2" type="body"/>
          </p:nvPr>
        </p:nvSpPr>
        <p:spPr>
          <a:xfrm>
            <a:off x="1413017" y="3131449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125" name="Google Shape;12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5" y="3131448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3"/>
          <p:cNvSpPr txBox="1"/>
          <p:nvPr>
            <p:ph idx="3" type="body"/>
          </p:nvPr>
        </p:nvSpPr>
        <p:spPr>
          <a:xfrm>
            <a:off x="1413017" y="4716409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127" name="Google Shape;12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5" y="4716408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3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33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 Black"/>
              <a:buNone/>
              <a:defRPr b="1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425734" y="1137003"/>
            <a:ext cx="11355843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13" name="Google Shape;13;p28"/>
          <p:cNvGrpSpPr/>
          <p:nvPr/>
        </p:nvGrpSpPr>
        <p:grpSpPr>
          <a:xfrm>
            <a:off x="9739747" y="136021"/>
            <a:ext cx="2278948" cy="604114"/>
            <a:chOff x="9739747" y="136021"/>
            <a:chExt cx="2278948" cy="604114"/>
          </a:xfrm>
        </p:grpSpPr>
        <p:grpSp>
          <p:nvGrpSpPr>
            <p:cNvPr id="14" name="Google Shape;14;p28"/>
            <p:cNvGrpSpPr/>
            <p:nvPr/>
          </p:nvGrpSpPr>
          <p:grpSpPr>
            <a:xfrm>
              <a:off x="9739747" y="136021"/>
              <a:ext cx="2278948" cy="604114"/>
              <a:chOff x="9044166" y="5486"/>
              <a:chExt cx="3002237" cy="798073"/>
            </a:xfrm>
          </p:grpSpPr>
          <p:pic>
            <p:nvPicPr>
              <p:cNvPr id="15" name="Google Shape;15;p28"/>
              <p:cNvPicPr preferRelativeResize="0"/>
              <p:nvPr/>
            </p:nvPicPr>
            <p:blipFill rotWithShape="1">
              <a:blip r:embed="rId1">
                <a:alphaModFix/>
              </a:blip>
              <a:srcRect b="0" l="0" r="0" t="0"/>
              <a:stretch/>
            </p:blipFill>
            <p:spPr>
              <a:xfrm>
                <a:off x="9044166" y="427236"/>
                <a:ext cx="1551406" cy="2616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16;p28"/>
              <p:cNvPicPr preferRelativeResize="0"/>
              <p:nvPr/>
            </p:nvPicPr>
            <p:blipFill rotWithShape="1">
              <a:blip r:embed="rId2">
                <a:alphaModFix/>
              </a:blip>
              <a:srcRect b="-8858" l="0" r="0" t="-17300"/>
              <a:stretch/>
            </p:blipFill>
            <p:spPr>
              <a:xfrm>
                <a:off x="11144986" y="5486"/>
                <a:ext cx="901417" cy="7980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" name="Google Shape;17;p28"/>
            <p:cNvSpPr/>
            <p:nvPr/>
          </p:nvSpPr>
          <p:spPr>
            <a:xfrm>
              <a:off x="11087205" y="492761"/>
              <a:ext cx="131975" cy="132080"/>
            </a:xfrm>
            <a:prstGeom prst="mathMultiply">
              <a:avLst>
                <a:gd fmla="val 0" name="adj1"/>
              </a:avLst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 b="1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30"/>
          <p:cNvSpPr txBox="1"/>
          <p:nvPr>
            <p:ph idx="1" type="body"/>
          </p:nvPr>
        </p:nvSpPr>
        <p:spPr>
          <a:xfrm>
            <a:off x="425734" y="1137003"/>
            <a:ext cx="11355843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54" name="Google Shape;54;p30"/>
          <p:cNvGrpSpPr/>
          <p:nvPr/>
        </p:nvGrpSpPr>
        <p:grpSpPr>
          <a:xfrm>
            <a:off x="9667009" y="136021"/>
            <a:ext cx="2351690" cy="604114"/>
            <a:chOff x="9667009" y="136021"/>
            <a:chExt cx="2351690" cy="604114"/>
          </a:xfrm>
        </p:grpSpPr>
        <p:sp>
          <p:nvSpPr>
            <p:cNvPr id="55" name="Google Shape;55;p30"/>
            <p:cNvSpPr/>
            <p:nvPr/>
          </p:nvSpPr>
          <p:spPr>
            <a:xfrm>
              <a:off x="11087205" y="492761"/>
              <a:ext cx="131975" cy="132080"/>
            </a:xfrm>
            <a:prstGeom prst="mathMultiply">
              <a:avLst>
                <a:gd fmla="val 0" name="adj1"/>
              </a:avLst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pic>
          <p:nvPicPr>
            <p:cNvPr id="56" name="Google Shape;56;p30"/>
            <p:cNvPicPr preferRelativeResize="0"/>
            <p:nvPr/>
          </p:nvPicPr>
          <p:blipFill rotWithShape="1">
            <a:blip r:embed="rId1">
              <a:alphaModFix/>
            </a:blip>
            <a:srcRect b="-8858" l="0" r="0" t="-17300"/>
            <a:stretch/>
          </p:blipFill>
          <p:spPr>
            <a:xfrm>
              <a:off x="11334448" y="136021"/>
              <a:ext cx="684251" cy="6041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30"/>
            <p:cNvPicPr preferRelativeResize="0"/>
            <p:nvPr/>
          </p:nvPicPr>
          <p:blipFill rotWithShape="1">
            <a:blip r:embed="rId2">
              <a:alphaModFix/>
            </a:blip>
            <a:srcRect b="7060" l="11025" r="12476" t="1"/>
            <a:stretch/>
          </p:blipFill>
          <p:spPr>
            <a:xfrm>
              <a:off x="9667009" y="405690"/>
              <a:ext cx="1309602" cy="2545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idx="1" type="body"/>
          </p:nvPr>
        </p:nvSpPr>
        <p:spPr>
          <a:xfrm>
            <a:off x="2437929" y="5527544"/>
            <a:ext cx="51678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CFD9"/>
              </a:buClr>
              <a:buSzPts val="1400"/>
              <a:buNone/>
            </a:pPr>
            <a:r>
              <a:rPr lang="ru-RU"/>
              <a:t>Бизнес-архитектор</a:t>
            </a:r>
            <a:endParaRPr/>
          </a:p>
        </p:txBody>
      </p:sp>
      <p:sp>
        <p:nvSpPr>
          <p:cNvPr id="135" name="Google Shape;135;p1"/>
          <p:cNvSpPr txBox="1"/>
          <p:nvPr>
            <p:ph idx="2" type="body"/>
          </p:nvPr>
        </p:nvSpPr>
        <p:spPr>
          <a:xfrm>
            <a:off x="2437929" y="5158993"/>
            <a:ext cx="5167854" cy="35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CFD9"/>
              </a:buClr>
              <a:buSzPts val="2000"/>
              <a:buNone/>
            </a:pPr>
            <a:r>
              <a:rPr lang="ru-RU"/>
              <a:t>Дмитрий Коберник</a:t>
            </a:r>
            <a:endParaRPr/>
          </a:p>
        </p:txBody>
      </p:sp>
      <p:sp>
        <p:nvSpPr>
          <p:cNvPr id="136" name="Google Shape;136;p1"/>
          <p:cNvSpPr txBox="1"/>
          <p:nvPr>
            <p:ph idx="3" type="subTitle"/>
          </p:nvPr>
        </p:nvSpPr>
        <p:spPr>
          <a:xfrm>
            <a:off x="357154" y="1698141"/>
            <a:ext cx="7303997" cy="285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1D8"/>
              </a:buClr>
              <a:buSzPts val="1200"/>
              <a:buNone/>
            </a:pPr>
            <a:r>
              <a:rPr lang="ru-RU"/>
              <a:t>ПРАКТИКА 2.2</a:t>
            </a:r>
            <a:endParaRPr/>
          </a:p>
        </p:txBody>
      </p:sp>
      <p:sp>
        <p:nvSpPr>
          <p:cNvPr id="137" name="Google Shape;137;p1"/>
          <p:cNvSpPr txBox="1"/>
          <p:nvPr>
            <p:ph type="ctrTitle"/>
          </p:nvPr>
        </p:nvSpPr>
        <p:spPr>
          <a:xfrm>
            <a:off x="357155" y="2502917"/>
            <a:ext cx="8003074" cy="1924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ato Black"/>
              <a:buNone/>
            </a:pPr>
            <a:r>
              <a:rPr b="1" lang="ru-RU"/>
              <a:t>Создание ресурсных спецификаций </a:t>
            </a:r>
            <a:endParaRPr/>
          </a:p>
        </p:txBody>
      </p:sp>
      <p:sp>
        <p:nvSpPr>
          <p:cNvPr id="138" name="Google Shape;138;p1"/>
          <p:cNvSpPr txBox="1"/>
          <p:nvPr>
            <p:ph idx="4" type="body"/>
          </p:nvPr>
        </p:nvSpPr>
        <p:spPr>
          <a:xfrm>
            <a:off x="2885004" y="6019599"/>
            <a:ext cx="206140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CFD9"/>
              </a:buClr>
              <a:buSzPct val="100000"/>
              <a:buNone/>
            </a:pPr>
            <a:r>
              <a:rPr lang="ru-RU"/>
              <a:t>DAKobernik@1cbit.ru</a:t>
            </a:r>
            <a:endParaRPr/>
          </a:p>
        </p:txBody>
      </p:sp>
      <p:pic>
        <p:nvPicPr>
          <p:cNvPr id="139" name="Google Shape;139;p1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875" r="875" t="0"/>
          <a:stretch/>
        </p:blipFill>
        <p:spPr>
          <a:xfrm>
            <a:off x="804740" y="4937916"/>
            <a:ext cx="1514474" cy="1540800"/>
          </a:xfrm>
          <a:prstGeom prst="ellipse">
            <a:avLst/>
          </a:prstGeom>
          <a:solidFill>
            <a:srgbClr val="D6DCE5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2"/>
          <p:cNvCxnSpPr/>
          <p:nvPr/>
        </p:nvCxnSpPr>
        <p:spPr>
          <a:xfrm>
            <a:off x="48344" y="2014"/>
            <a:ext cx="2407473" cy="6855986"/>
          </a:xfrm>
          <a:prstGeom prst="straightConnector1">
            <a:avLst/>
          </a:prstGeom>
          <a:noFill/>
          <a:ln cap="flat" cmpd="sng" w="9525">
            <a:solidFill>
              <a:srgbClr val="12233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6" name="Google Shape;146;p2"/>
          <p:cNvCxnSpPr/>
          <p:nvPr/>
        </p:nvCxnSpPr>
        <p:spPr>
          <a:xfrm flipH="1">
            <a:off x="682787" y="7344"/>
            <a:ext cx="7047704" cy="6848642"/>
          </a:xfrm>
          <a:prstGeom prst="straightConnector1">
            <a:avLst/>
          </a:prstGeom>
          <a:noFill/>
          <a:ln cap="flat" cmpd="sng" w="9525">
            <a:solidFill>
              <a:srgbClr val="12233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7" name="Google Shape;147;p2"/>
          <p:cNvSpPr/>
          <p:nvPr/>
        </p:nvSpPr>
        <p:spPr>
          <a:xfrm>
            <a:off x="535858" y="1771028"/>
            <a:ext cx="6691660" cy="3803054"/>
          </a:xfrm>
          <a:prstGeom prst="rect">
            <a:avLst/>
          </a:prstGeom>
          <a:solidFill>
            <a:srgbClr val="122335"/>
          </a:soli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425733" y="316498"/>
            <a:ext cx="8883439" cy="506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-RU" sz="2800" u="none" cap="none" strike="noStrike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Цель занятия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837697" y="2103138"/>
            <a:ext cx="59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ru-RU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Сформировать ресурсные спецификации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5707" y="4722312"/>
            <a:ext cx="1885940" cy="1885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>
            <p:ph type="title"/>
          </p:nvPr>
        </p:nvSpPr>
        <p:spPr>
          <a:xfrm>
            <a:off x="425734" y="331259"/>
            <a:ext cx="6400951" cy="971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Инструменты и необходимые ресурсы для выполнения задания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425733" y="1954544"/>
            <a:ext cx="10046025" cy="3757325"/>
          </a:xfrm>
          <a:prstGeom prst="roundRect">
            <a:avLst>
              <a:gd fmla="val 7128" name="adj"/>
            </a:avLst>
          </a:prstGeom>
          <a:solidFill>
            <a:srgbClr val="E6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descr="Ii 3D Illustrations - Free Download in PNG, glTF" id="157" name="Google Shape;1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645" y="2105913"/>
            <a:ext cx="840109" cy="85022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"/>
          <p:cNvSpPr txBox="1"/>
          <p:nvPr/>
        </p:nvSpPr>
        <p:spPr>
          <a:xfrm>
            <a:off x="1448754" y="2303469"/>
            <a:ext cx="8747432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Доступ к системе 1С: Предприятие с правами на работу в конфигураторе.  </a:t>
            </a:r>
            <a:endParaRPr/>
          </a:p>
          <a:p>
            <a:pPr indent="-285750" lvl="0" marL="28575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Руководство пользователя или справочная документация по 1С: Предприятие (при необходимости).  </a:t>
            </a:r>
            <a:endParaRPr/>
          </a:p>
          <a:p>
            <a:pPr indent="-285750" lvl="0" marL="28575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Рабочее место с установленным клиентом 1С: Предприятие или веб-доступом к системе.  </a:t>
            </a:r>
            <a:endParaRPr/>
          </a:p>
          <a:p>
            <a:pPr indent="-285750" lvl="0" marL="28575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Время для выполнения каждого этапа с возможностью проверить результаты.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>
            <p:ph type="title"/>
          </p:nvPr>
        </p:nvSpPr>
        <p:spPr>
          <a:xfrm>
            <a:off x="425734" y="331259"/>
            <a:ext cx="8515066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Содержание</a:t>
            </a:r>
            <a:endParaRPr/>
          </a:p>
        </p:txBody>
      </p:sp>
      <p:sp>
        <p:nvSpPr>
          <p:cNvPr id="164" name="Google Shape;164;p4"/>
          <p:cNvSpPr txBox="1"/>
          <p:nvPr>
            <p:ph idx="1" type="body"/>
          </p:nvPr>
        </p:nvSpPr>
        <p:spPr>
          <a:xfrm>
            <a:off x="425735" y="1137003"/>
            <a:ext cx="7991755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Понятие ресурсной спецификации.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Создание спецификации готового изделия.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Добавление материалов в состав изделия.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Добавление полуфабрикатов.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Указание производственных операций.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Создание многоуровневой структуры изделия.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Построение дерева спецификаций.</a:t>
            </a:r>
            <a:endParaRPr/>
          </a:p>
        </p:txBody>
      </p:sp>
      <p:sp>
        <p:nvSpPr>
          <p:cNvPr id="165" name="Google Shape;165;p4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ru-RU"/>
              <a:t>ЗАДАНИЕ 1.</a:t>
            </a:r>
            <a:endParaRPr/>
          </a:p>
        </p:txBody>
      </p:sp>
      <p:sp>
        <p:nvSpPr>
          <p:cNvPr id="171" name="Google Shape;171;p5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2" name="Google Shape;172;p5"/>
          <p:cNvSpPr txBox="1"/>
          <p:nvPr>
            <p:ph type="title"/>
          </p:nvPr>
        </p:nvSpPr>
        <p:spPr>
          <a:xfrm>
            <a:off x="803266" y="2446046"/>
            <a:ext cx="5887819" cy="2024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</a:pPr>
            <a:r>
              <a:rPr lang="ru-RU"/>
              <a:t>Понятие ресурсной спецификации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76d058683_0_0"/>
          <p:cNvSpPr txBox="1"/>
          <p:nvPr>
            <p:ph type="title"/>
          </p:nvPr>
        </p:nvSpPr>
        <p:spPr>
          <a:xfrm>
            <a:off x="425734" y="331259"/>
            <a:ext cx="89667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Ресурсная спецификация</a:t>
            </a:r>
            <a:endParaRPr/>
          </a:p>
        </p:txBody>
      </p:sp>
      <p:sp>
        <p:nvSpPr>
          <p:cNvPr id="178" name="Google Shape;178;g3f76d058683_0_0"/>
          <p:cNvSpPr txBox="1"/>
          <p:nvPr>
            <p:ph idx="12" type="sldNum"/>
          </p:nvPr>
        </p:nvSpPr>
        <p:spPr>
          <a:xfrm>
            <a:off x="10374489" y="6356350"/>
            <a:ext cx="161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9" name="Google Shape;179;g3f76d058683_0_0"/>
          <p:cNvSpPr txBox="1"/>
          <p:nvPr>
            <p:ph idx="1" type="body"/>
          </p:nvPr>
        </p:nvSpPr>
        <p:spPr>
          <a:xfrm>
            <a:off x="425450" y="1253608"/>
            <a:ext cx="9190500" cy="1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/>
              <a:t>Ресурсная спецификация, BOM (Bill of Material) — это: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/>
              <a:t>«Перечень всех сборочных единиц, промежуточных продуктов, деталей (ПКИ) и сырья , входящих в состав родительской сборочной единицы, с указанием количества каждой позиции, требуемого для изготовления этой сборочной единицы»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0" name="Google Shape;180;g3f76d05868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5600" y="2940425"/>
            <a:ext cx="5774602" cy="320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ru-RU"/>
              <a:t>ЗАДАНИЕ 2.</a:t>
            </a:r>
            <a:endParaRPr/>
          </a:p>
        </p:txBody>
      </p:sp>
      <p:sp>
        <p:nvSpPr>
          <p:cNvPr id="186" name="Google Shape;186;p8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7" name="Google Shape;187;p8"/>
          <p:cNvSpPr txBox="1"/>
          <p:nvPr>
            <p:ph type="title"/>
          </p:nvPr>
        </p:nvSpPr>
        <p:spPr>
          <a:xfrm>
            <a:off x="803266" y="2446045"/>
            <a:ext cx="6207134" cy="2329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</a:pPr>
            <a:r>
              <a:rPr lang="ru-RU"/>
              <a:t>Создание спецификации готового изделия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>
            <p:ph type="title"/>
          </p:nvPr>
        </p:nvSpPr>
        <p:spPr>
          <a:xfrm>
            <a:off x="425734" y="331259"/>
            <a:ext cx="8966622" cy="558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Формирование единичных спецификаций</a:t>
            </a:r>
            <a:endParaRPr/>
          </a:p>
        </p:txBody>
      </p:sp>
      <p:sp>
        <p:nvSpPr>
          <p:cNvPr id="193" name="Google Shape;193;p9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94" name="Google Shape;19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050" y="2225800"/>
            <a:ext cx="6171800" cy="3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 txBox="1"/>
          <p:nvPr/>
        </p:nvSpPr>
        <p:spPr>
          <a:xfrm>
            <a:off x="425450" y="1253598"/>
            <a:ext cx="9190500" cy="1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Lato"/>
                <a:ea typeface="Lato"/>
                <a:cs typeface="Lato"/>
                <a:sym typeface="Lato"/>
              </a:rPr>
              <a:t>Навигация: </a:t>
            </a:r>
            <a:r>
              <a:rPr lang="ru-RU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Производство - НСИ - Ресурсные спецификации</a:t>
            </a:r>
            <a:br>
              <a:rPr lang="ru-RU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-RU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Формируе</a:t>
            </a:r>
            <a:r>
              <a:rPr lang="ru-RU" sz="1800">
                <a:latin typeface="Lato"/>
                <a:ea typeface="Lato"/>
                <a:cs typeface="Lato"/>
                <a:sym typeface="Lato"/>
              </a:rPr>
              <a:t>м две единичные спецификации:</a:t>
            </a:r>
            <a:br>
              <a:rPr lang="ru-RU" sz="1800">
                <a:latin typeface="Lato"/>
                <a:ea typeface="Lato"/>
                <a:cs typeface="Lato"/>
                <a:sym typeface="Lato"/>
              </a:rPr>
            </a:br>
            <a:r>
              <a:rPr lang="ru-RU" sz="1800">
                <a:latin typeface="Lato"/>
                <a:ea typeface="Lato"/>
                <a:cs typeface="Lato"/>
                <a:sym typeface="Lato"/>
              </a:rPr>
              <a:t>Колесо и Рама (</a:t>
            </a:r>
            <a:r>
              <a:rPr lang="ru-RU" sz="1800">
                <a:latin typeface="Lato"/>
                <a:ea typeface="Lato"/>
                <a:cs typeface="Lato"/>
                <a:sym typeface="Lato"/>
              </a:rPr>
              <a:t>окрашенная</a:t>
            </a:r>
            <a:r>
              <a:rPr lang="ru-RU" sz="1800">
                <a:latin typeface="Lato"/>
                <a:ea typeface="Lato"/>
                <a:cs typeface="Lato"/>
                <a:sym typeface="Lato"/>
              </a:rPr>
              <a:t>)</a:t>
            </a:r>
            <a:br>
              <a:rPr lang="ru-RU" sz="1800">
                <a:latin typeface="Lato"/>
                <a:ea typeface="Lato"/>
                <a:cs typeface="Lato"/>
                <a:sym typeface="Lato"/>
              </a:rPr>
            </a:br>
            <a:r>
              <a:rPr lang="ru-RU" sz="1800">
                <a:latin typeface="Lato"/>
                <a:ea typeface="Lato"/>
                <a:cs typeface="Lato"/>
                <a:sym typeface="Lato"/>
              </a:rPr>
              <a:t>Записываем спецификации, устанавливаем статус “действует”</a:t>
            </a:r>
            <a:endParaRPr sz="1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6d058683_0_88"/>
          <p:cNvSpPr txBox="1"/>
          <p:nvPr>
            <p:ph type="title"/>
          </p:nvPr>
        </p:nvSpPr>
        <p:spPr>
          <a:xfrm>
            <a:off x="425734" y="331259"/>
            <a:ext cx="8966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Формирование спецификации велосипеда</a:t>
            </a:r>
            <a:endParaRPr/>
          </a:p>
        </p:txBody>
      </p:sp>
      <p:sp>
        <p:nvSpPr>
          <p:cNvPr id="201" name="Google Shape;201;g3f76d058683_0_88"/>
          <p:cNvSpPr txBox="1"/>
          <p:nvPr>
            <p:ph idx="12" type="sldNum"/>
          </p:nvPr>
        </p:nvSpPr>
        <p:spPr>
          <a:xfrm>
            <a:off x="10374489" y="6356350"/>
            <a:ext cx="161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02" name="Google Shape;202;g3f76d058683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050" y="2225800"/>
            <a:ext cx="6171800" cy="3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f76d058683_0_88"/>
          <p:cNvSpPr txBox="1"/>
          <p:nvPr/>
        </p:nvSpPr>
        <p:spPr>
          <a:xfrm>
            <a:off x="425450" y="1253598"/>
            <a:ext cx="9190500" cy="1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Lato"/>
                <a:ea typeface="Lato"/>
                <a:cs typeface="Lato"/>
                <a:sym typeface="Lato"/>
              </a:rPr>
              <a:t>Навигация: </a:t>
            </a:r>
            <a:r>
              <a:rPr lang="ru-RU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Производство - НСИ - Ресурсные спецификации</a:t>
            </a:r>
            <a:br>
              <a:rPr lang="ru-RU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-RU" sz="1800">
                <a:latin typeface="Lato"/>
                <a:ea typeface="Lato"/>
                <a:cs typeface="Lato"/>
                <a:sym typeface="Lato"/>
              </a:rPr>
              <a:t>Сформировать спецификацию “велосипед”, узлами поставив сделанные ранее спецификации</a:t>
            </a:r>
            <a:endParaRPr sz="1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76d058683_0_95"/>
          <p:cNvSpPr txBox="1"/>
          <p:nvPr>
            <p:ph type="title"/>
          </p:nvPr>
        </p:nvSpPr>
        <p:spPr>
          <a:xfrm>
            <a:off x="425734" y="331259"/>
            <a:ext cx="8966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Формирование второй спецификации велосипеда</a:t>
            </a:r>
            <a:endParaRPr/>
          </a:p>
        </p:txBody>
      </p:sp>
      <p:sp>
        <p:nvSpPr>
          <p:cNvPr id="209" name="Google Shape;209;g3f76d058683_0_95"/>
          <p:cNvSpPr txBox="1"/>
          <p:nvPr>
            <p:ph idx="12" type="sldNum"/>
          </p:nvPr>
        </p:nvSpPr>
        <p:spPr>
          <a:xfrm>
            <a:off x="10374489" y="6356350"/>
            <a:ext cx="161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0" name="Google Shape;210;g3f76d058683_0_95"/>
          <p:cNvSpPr txBox="1"/>
          <p:nvPr/>
        </p:nvSpPr>
        <p:spPr>
          <a:xfrm>
            <a:off x="425450" y="1253598"/>
            <a:ext cx="9190500" cy="1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Lato"/>
                <a:ea typeface="Lato"/>
                <a:cs typeface="Lato"/>
                <a:sym typeface="Lato"/>
              </a:rPr>
              <a:t>Навигация: </a:t>
            </a:r>
            <a:r>
              <a:rPr lang="ru-RU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Производство - НСИ - Ресурсные спецификации</a:t>
            </a:r>
            <a:br>
              <a:rPr lang="ru-RU" sz="1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-RU" sz="1800">
                <a:latin typeface="Lato"/>
                <a:ea typeface="Lato"/>
                <a:cs typeface="Lato"/>
                <a:sym typeface="Lato"/>
              </a:rPr>
              <a:t>Сформировать вторую  спецификацию “велосипед”, узлами поставив ранее сделанную спецификацию и покупную раму</a:t>
            </a:r>
            <a:endParaRPr sz="1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1" name="Google Shape;211;g3f76d058683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1525" y="2794825"/>
            <a:ext cx="5169824" cy="34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22033cd6b980e7e2_0_0"/>
          <p:cNvSpPr txBox="1"/>
          <p:nvPr>
            <p:ph type="title"/>
          </p:nvPr>
        </p:nvSpPr>
        <p:spPr>
          <a:xfrm>
            <a:off x="425734" y="331259"/>
            <a:ext cx="89667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Варианты реализации спецификации</a:t>
            </a:r>
            <a:endParaRPr/>
          </a:p>
        </p:txBody>
      </p:sp>
      <p:sp>
        <p:nvSpPr>
          <p:cNvPr id="217" name="Google Shape;217;h22033cd6b980e7e2_0_0"/>
          <p:cNvSpPr txBox="1"/>
          <p:nvPr>
            <p:ph idx="12" type="sldNum"/>
          </p:nvPr>
        </p:nvSpPr>
        <p:spPr>
          <a:xfrm>
            <a:off x="10374489" y="6356350"/>
            <a:ext cx="161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18" name="Google Shape;218;h22033cd6b980e7e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9050" y="1427311"/>
            <a:ext cx="3330403" cy="174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h22033cd6b980e7e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3575" y="1327650"/>
            <a:ext cx="3330399" cy="194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h22033cd6b980e7e2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6363" y="3644875"/>
            <a:ext cx="3215775" cy="28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h22033cd6b980e7e2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3575" y="3639975"/>
            <a:ext cx="3330400" cy="294299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h22033cd6b980e7e2_0_0"/>
          <p:cNvSpPr txBox="1"/>
          <p:nvPr/>
        </p:nvSpPr>
        <p:spPr>
          <a:xfrm>
            <a:off x="655050" y="1894775"/>
            <a:ext cx="1614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Вариант 1</a:t>
            </a:r>
            <a:b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Плоская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h22033cd6b980e7e2_0_0"/>
          <p:cNvSpPr txBox="1"/>
          <p:nvPr/>
        </p:nvSpPr>
        <p:spPr>
          <a:xfrm>
            <a:off x="655050" y="4447475"/>
            <a:ext cx="1614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Вариант 3</a:t>
            </a:r>
            <a:b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Составная. Произвести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h22033cd6b980e7e2_0_0"/>
          <p:cNvSpPr txBox="1"/>
          <p:nvPr/>
        </p:nvSpPr>
        <p:spPr>
          <a:xfrm>
            <a:off x="9989550" y="4595650"/>
            <a:ext cx="1614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Вариант 4</a:t>
            </a:r>
            <a:b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Составная. Обеспечить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h22033cd6b980e7e2_0_0"/>
          <p:cNvSpPr txBox="1"/>
          <p:nvPr/>
        </p:nvSpPr>
        <p:spPr>
          <a:xfrm>
            <a:off x="9989550" y="1894775"/>
            <a:ext cx="1614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Вариант 2</a:t>
            </a:r>
            <a:b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-RU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Единая с этапами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 txBox="1"/>
          <p:nvPr>
            <p:ph idx="1" type="body"/>
          </p:nvPr>
        </p:nvSpPr>
        <p:spPr>
          <a:xfrm>
            <a:off x="425450" y="1136324"/>
            <a:ext cx="8966622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Выполните просмотр дерева спецификации.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Выполните просмотр сравнения спецификаций.</a:t>
            </a:r>
            <a:endParaRPr/>
          </a:p>
        </p:txBody>
      </p:sp>
      <p:sp>
        <p:nvSpPr>
          <p:cNvPr id="231" name="Google Shape;231;p10"/>
          <p:cNvSpPr txBox="1"/>
          <p:nvPr>
            <p:ph type="title"/>
          </p:nvPr>
        </p:nvSpPr>
        <p:spPr>
          <a:xfrm>
            <a:off x="425734" y="331259"/>
            <a:ext cx="8966622" cy="558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Варианты спецификации</a:t>
            </a:r>
            <a:endParaRPr/>
          </a:p>
        </p:txBody>
      </p:sp>
      <p:sp>
        <p:nvSpPr>
          <p:cNvPr id="232" name="Google Shape;232;p10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ru-RU"/>
              <a:t>ЗАДАНИЕ 3.</a:t>
            </a:r>
            <a:endParaRPr/>
          </a:p>
        </p:txBody>
      </p:sp>
      <p:sp>
        <p:nvSpPr>
          <p:cNvPr id="238" name="Google Shape;238;p11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9" name="Google Shape;239;p11"/>
          <p:cNvSpPr txBox="1"/>
          <p:nvPr>
            <p:ph type="title"/>
          </p:nvPr>
        </p:nvSpPr>
        <p:spPr>
          <a:xfrm>
            <a:off x="803267" y="2446045"/>
            <a:ext cx="5365166" cy="2300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</a:pPr>
            <a:r>
              <a:rPr lang="ru-RU"/>
              <a:t>Создание разрешения на замену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 txBox="1"/>
          <p:nvPr>
            <p:ph idx="1" type="body"/>
          </p:nvPr>
        </p:nvSpPr>
        <p:spPr>
          <a:xfrm>
            <a:off x="425450" y="1136324"/>
            <a:ext cx="8966622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Навигация: Производство, разрешения на замену.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Сделать </a:t>
            </a:r>
            <a:r>
              <a:rPr lang="ru-RU"/>
              <a:t>разрешение</a:t>
            </a:r>
            <a:r>
              <a:rPr lang="ru-RU"/>
              <a:t> на замену покупной </a:t>
            </a:r>
            <a:r>
              <a:rPr lang="ru-RU"/>
              <a:t>окрашенной</a:t>
            </a:r>
            <a:r>
              <a:rPr lang="ru-RU"/>
              <a:t> рамы на </a:t>
            </a:r>
            <a:r>
              <a:rPr lang="ru-RU"/>
              <a:t>окрашенную</a:t>
            </a:r>
            <a:r>
              <a:rPr lang="ru-RU"/>
              <a:t> раму (собственного производства). Разрешение на замену взаимозаменяемое, действует везде.</a:t>
            </a:r>
            <a:endParaRPr/>
          </a:p>
        </p:txBody>
      </p:sp>
      <p:sp>
        <p:nvSpPr>
          <p:cNvPr id="245" name="Google Shape;245;p12"/>
          <p:cNvSpPr txBox="1"/>
          <p:nvPr>
            <p:ph type="title"/>
          </p:nvPr>
        </p:nvSpPr>
        <p:spPr>
          <a:xfrm>
            <a:off x="425734" y="331259"/>
            <a:ext cx="8966622" cy="558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Ввод разрешения на замену</a:t>
            </a:r>
            <a:endParaRPr/>
          </a:p>
        </p:txBody>
      </p:sp>
      <p:sp>
        <p:nvSpPr>
          <p:cNvPr id="246" name="Google Shape;246;p12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body"/>
          </p:nvPr>
        </p:nvSpPr>
        <p:spPr>
          <a:xfrm>
            <a:off x="1413017" y="1289313"/>
            <a:ext cx="9578834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Научились создавать спецификации и сравнивать их.	</a:t>
            </a:r>
            <a:endParaRPr/>
          </a:p>
        </p:txBody>
      </p:sp>
      <p:sp>
        <p:nvSpPr>
          <p:cNvPr id="257" name="Google Shape;257;p27"/>
          <p:cNvSpPr txBox="1"/>
          <p:nvPr>
            <p:ph type="title"/>
          </p:nvPr>
        </p:nvSpPr>
        <p:spPr>
          <a:xfrm>
            <a:off x="425734" y="331259"/>
            <a:ext cx="8966622" cy="583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Выводы по теме</a:t>
            </a:r>
            <a:endParaRPr/>
          </a:p>
        </p:txBody>
      </p:sp>
      <p:sp>
        <p:nvSpPr>
          <p:cNvPr id="258" name="Google Shape;258;p27"/>
          <p:cNvSpPr txBox="1"/>
          <p:nvPr>
            <p:ph idx="2" type="body"/>
          </p:nvPr>
        </p:nvSpPr>
        <p:spPr>
          <a:xfrm>
            <a:off x="1413016" y="2603988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Научились </a:t>
            </a:r>
            <a:r>
              <a:rPr lang="ru-RU"/>
              <a:t>создавать</a:t>
            </a:r>
            <a:r>
              <a:rPr lang="ru-RU"/>
              <a:t> разрешения на замену.</a:t>
            </a:r>
            <a:endParaRPr/>
          </a:p>
        </p:txBody>
      </p:sp>
      <p:sp>
        <p:nvSpPr>
          <p:cNvPr id="259" name="Google Shape;259;p27"/>
          <p:cNvSpPr txBox="1"/>
          <p:nvPr>
            <p:ph idx="3" type="body"/>
          </p:nvPr>
        </p:nvSpPr>
        <p:spPr>
          <a:xfrm>
            <a:off x="1413016" y="3918663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 txBox="1"/>
          <p:nvPr>
            <p:ph idx="4" type="body"/>
          </p:nvPr>
        </p:nvSpPr>
        <p:spPr>
          <a:xfrm>
            <a:off x="1413016" y="5233338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ые слайды">
  <a:themeElements>
    <a:clrScheme name="ПБ">
      <a:dk1>
        <a:srgbClr val="000000"/>
      </a:dk1>
      <a:lt1>
        <a:srgbClr val="FFFFFF"/>
      </a:lt1>
      <a:dk2>
        <a:srgbClr val="122335"/>
      </a:dk2>
      <a:lt2>
        <a:srgbClr val="D6DCE5"/>
      </a:lt2>
      <a:accent1>
        <a:srgbClr val="E3006F"/>
      </a:accent1>
      <a:accent2>
        <a:srgbClr val="E6E9EE"/>
      </a:accent2>
      <a:accent3>
        <a:srgbClr val="DEBD44"/>
      </a:accent3>
      <a:accent4>
        <a:srgbClr val="E93FA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ные слайды">
  <a:themeElements>
    <a:clrScheme name="ПБ">
      <a:dk1>
        <a:srgbClr val="000000"/>
      </a:dk1>
      <a:lt1>
        <a:srgbClr val="FFFFFF"/>
      </a:lt1>
      <a:dk2>
        <a:srgbClr val="122335"/>
      </a:dk2>
      <a:lt2>
        <a:srgbClr val="D6DCE5"/>
      </a:lt2>
      <a:accent1>
        <a:srgbClr val="E3006F"/>
      </a:accent1>
      <a:accent2>
        <a:srgbClr val="E6E9EE"/>
      </a:accent2>
      <a:accent3>
        <a:srgbClr val="DEBD44"/>
      </a:accent3>
      <a:accent4>
        <a:srgbClr val="E93FA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2018-02-15T12:13:41Z</dcterms:created>
  <dc:creator>LDDX</dc:creator>
</cp:coreProperties>
</file>